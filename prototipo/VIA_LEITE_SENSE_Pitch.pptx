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Gancho (0:00–0:20): Metade dos produtores de leite do Brasil já entregou leite fora do padrão. E só descobre ~30 dias depois — quando o leite já foi coletado e pago. Eu sou [nome], do VIA LEITE SENSE: o radar de risco da cadeia leiteira. (Pausa após o número.)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(0:20–0:45): A qualidade vem de um exame de laboratório mensal. Quando o resultado chega, já é tarde — caiu a qualidade, caiu o pagamento, perdeu o bônus. A dor não é o descarte; é a falta de antecipação.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(0:45–1:25): Viramos de reativo para preditivo. Um Score de 0 a 100 antecipa com 7 a 30 dias QUEM vai ter problema — o QUANDO agir. E cada produtor recebe um Perfil — Consistente, Oscilante ou Desafiador — que diz COMO agir, tornando a recomendação cirúrgica.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Adoção (1:55–2:25): A adoção é simples — o produtor recebe o alerta em linguagem simples no WhatsApp que já usa, sem instalar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Mercado e modelo (1:25–1:55): Mercado grande (IBGE 2024). Começando por Goiás, alvo de 3 anos é R$ 3,2 milhões/ano. Modelo B2B: o laticínio assina por produtor — R$ 39 básico, R$ 69 Pro, ~R$ 60 em média.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Impacto (1:55–2:25): O retorno é direto — mais de R$ 1.200 por produtor por mês e menos emissão de CO₂.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e equipe (2:25–3:00): Score e Radar já estão no ar; o Perfil está validado; o próximo passo é o piloto pago no Sul Goiano. Por trás disso, um time de negócio, dados, produto, veterinária e engenharia.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(2:25–3:00): O VIA LEITE SENSE faz a cadeia leiteira parar de descobrir o problema tarde demais. A demo está no ar — aponte a câmera no QR. Estamos buscando o primeiro laticínio parceiro para o piloto no Sul Goiano. Obrigado.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 AGROSTARTUP · SENAR/SEBRAE GOIÁS 2026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45720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</a:t>
            </a:r>
            <a:pPr indent="0" marL="0">
              <a:buNone/>
            </a:pPr>
            <a:r>
              <a:rPr lang="en-US" sz="60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45720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AF4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Radar de Risco da Cadeia Leiteira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0632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 queda de produção, perda de qualidade e risco de penalização — antes que a perda aconteça.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297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Preveja o risco.  Proteja o preço.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2240" y="1234440"/>
            <a:ext cx="2468880" cy="2468880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11950" y="1654150"/>
            <a:ext cx="1629461" cy="1629461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06970" y="2049170"/>
            <a:ext cx="839419" cy="839419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37117" y="2812585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1" name="Shape 9"/>
          <p:cNvSpPr/>
          <p:nvPr/>
        </p:nvSpPr>
        <p:spPr>
          <a:xfrm>
            <a:off x="6965198" y="3138922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Shape 10"/>
          <p:cNvSpPr/>
          <p:nvPr/>
        </p:nvSpPr>
        <p:spPr>
          <a:xfrm>
            <a:off x="7244520" y="1986720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3" name="Shape 11"/>
          <p:cNvSpPr/>
          <p:nvPr/>
        </p:nvSpPr>
        <p:spPr>
          <a:xfrm>
            <a:off x="8252268" y="1742302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14" name="Shape 12"/>
          <p:cNvSpPr/>
          <p:nvPr/>
        </p:nvSpPr>
        <p:spPr>
          <a:xfrm>
            <a:off x="7680960" y="2423160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a gestão é reativa.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dias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4480560" y="187452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tempo até o produtor descobrir que entregou leite fora do padrão — pelo exame de laboratório mensal, quando já caiu o pagamento e se perdeu o bônus.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8229600" cy="1005840"/>
          </a:xfrm>
          <a:prstGeom prst="roundRect">
            <a:avLst>
              <a:gd name="adj" fmla="val 8182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42900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dor não é o descarte.  </a:t>
            </a:r>
            <a:pPr algn="l" indent="0" marL="0">
              <a:buNone/>
            </a:pPr>
            <a:r>
              <a:rPr lang="en-US" sz="2100" b="1" i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falta de antecipação.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· DE REATIVO A PREDITIVO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vai ter problema — e como agir.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AGIR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385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VIA LEITE 0–100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Cruza clima + qualidade + produção · antecipa 7 / 15 / 30 dias.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" y="3090672"/>
            <a:ext cx="182880" cy="18288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288036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645920" y="2880360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0–25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432304" y="2880360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596896" y="3090672"/>
            <a:ext cx="182880" cy="18288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2871216" y="288036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621024" y="2880360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26–50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593592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" y="3803904"/>
            <a:ext cx="182880" cy="18288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3593592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645920" y="3593592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51–75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432304" y="3593592"/>
            <a:ext cx="1847088" cy="603504"/>
          </a:xfrm>
          <a:prstGeom prst="roundRect">
            <a:avLst>
              <a:gd name="adj" fmla="val 1363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596896" y="380390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2871216" y="3593592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621024" y="3593592"/>
            <a:ext cx="594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76–100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5488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AGIR · PERFIL DO PRODUTOR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1938528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956048" y="2139696"/>
            <a:ext cx="164592" cy="164592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5212080" y="1938528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no padrão e produção estável.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754880" y="2596896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56048" y="2798064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0" y="2596896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Oscilante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Bons resultados, porém com oscilações.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754880" y="3255264"/>
            <a:ext cx="3931920" cy="566928"/>
          </a:xfrm>
          <a:prstGeom prst="roundRect">
            <a:avLst>
              <a:gd name="adj" fmla="val 14516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956048" y="3456432"/>
            <a:ext cx="164592" cy="164592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3" name="Text 31"/>
          <p:cNvSpPr/>
          <p:nvPr/>
        </p:nvSpPr>
        <p:spPr>
          <a:xfrm>
            <a:off x="5212080" y="3255264"/>
            <a:ext cx="3337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Desafiador  </a:t>
            </a:r>
            <a:pPr indent="0" marL="0">
              <a:buNone/>
            </a:pPr>
            <a:r>
              <a:rPr lang="en-US" sz="12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CCS/CBT elevados e maior variabilidade.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cirúrgica, não genérica. Fonte: Gonçalves (2025) / MilkPoint — 2.002 produtores, 16.362 análises.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0EA5B5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NA PONTA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Simples para o produtor.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traduzido no WhatsApp que ele já usa.</a:t>
            </a:r>
            <a:endParaRPr lang="en-US" sz="17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instalar nada. Sem termo técnico. A complexidade fica do nosso lado.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0" y="1417320"/>
            <a:ext cx="3200400" cy="3108960"/>
          </a:xfrm>
          <a:prstGeom prst="roundRect">
            <a:avLst>
              <a:gd name="adj" fmla="val 2647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0" y="1417320"/>
            <a:ext cx="3200400" cy="548640"/>
          </a:xfrm>
          <a:prstGeom prst="roundRect">
            <a:avLst>
              <a:gd name="adj" fmla="val 15000"/>
            </a:avLst>
          </a:prstGeom>
          <a:solidFill>
            <a:srgbClr val="128C7E"/>
          </a:solidFill>
          <a:ln/>
        </p:spPr>
      </p:sp>
      <p:sp>
        <p:nvSpPr>
          <p:cNvPr id="8" name="Text 6"/>
          <p:cNvSpPr/>
          <p:nvPr/>
        </p:nvSpPr>
        <p:spPr>
          <a:xfrm>
            <a:off x="5715000" y="14173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SENSE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15000" y="2148840"/>
            <a:ext cx="2743200" cy="960120"/>
          </a:xfrm>
          <a:prstGeom prst="roundRect">
            <a:avLst>
              <a:gd name="adj" fmla="val 7619"/>
            </a:avLst>
          </a:prstGeom>
          <a:solidFill>
            <a:srgbClr val="DCF8C6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0" y="2194560"/>
            <a:ext cx="2514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C2C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Seu CCS pode sair do padrão nos próximos 10 dias. Vamos revisar o tanque e o lote 3?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989320" y="3291840"/>
            <a:ext cx="2468880" cy="640080"/>
          </a:xfrm>
          <a:prstGeom prst="roundRect">
            <a:avLst>
              <a:gd name="adj" fmla="val 11429"/>
            </a:avLst>
          </a:prstGeom>
          <a:solidFill>
            <a:srgbClr val="173C4D"/>
          </a:solidFill>
          <a:ln/>
        </p:spPr>
      </p:sp>
      <p:sp>
        <p:nvSpPr>
          <p:cNvPr id="12" name="Text 10"/>
          <p:cNvSpPr/>
          <p:nvPr/>
        </p:nvSpPr>
        <p:spPr>
          <a:xfrm>
            <a:off x="6126480" y="32918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passar amanhã? 👍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&amp; MODELO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grande — e como cobramos.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5720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35,7 bi L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606040" y="1965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Brasil · IBGE 2024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328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R$ 87,5 bi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606040" y="253288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da produção · BR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998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Goiás 5º maior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606040" y="309981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2,92 bi L · beachhead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4069080" cy="777240"/>
          </a:xfrm>
          <a:prstGeom prst="roundRect">
            <a:avLst>
              <a:gd name="adj" fmla="val 10588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749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 3 anos:  </a:t>
            </a:r>
            <a:pPr indent="0" marL="0">
              <a:buNone/>
            </a:pPr>
            <a:r>
              <a:rPr lang="en-US" sz="13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R$ 3,2 mi/ano · 4.500 produtores no Sul Goiano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754880" y="16642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· B2B2F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754880" y="2011680"/>
            <a:ext cx="1965960" cy="1508760"/>
          </a:xfrm>
          <a:prstGeom prst="roundRect">
            <a:avLst>
              <a:gd name="adj" fmla="val 5455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54880" y="2176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450592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R$ 39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754880" y="303580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produtor / mês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12280" y="2011680"/>
            <a:ext cx="1874520" cy="1508760"/>
          </a:xfrm>
          <a:prstGeom prst="roundRect">
            <a:avLst>
              <a:gd name="adj" fmla="val 5455"/>
            </a:avLst>
          </a:prstGeom>
          <a:solidFill>
            <a:srgbClr val="173C4D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12280" y="2176272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12280" y="245059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R$ 69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812280" y="303580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produtor / mês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6576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laticínio assina por produtor e protege a margem: menos descarte e penalidades, bônus garantido.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direto — e ESG.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36976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016752" y="1874520"/>
            <a:ext cx="2679192" cy="2103120"/>
          </a:xfrm>
          <a:prstGeom prst="roundRect">
            <a:avLst>
              <a:gd name="adj" fmla="val 3913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+R$ 1.200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31520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produtor / mês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ganho ou perda evitada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11296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50–60%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511296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descarte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leite não-conforme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291072" y="224028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180+ t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6291072" y="30632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evitado / ano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cooperativa de 50 produtores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Benchmarks: Embrapa Gado de Leite · MAPA IN 77/2018 · FAO.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20624"/>
            <a:ext cx="128016" cy="128016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840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&amp; EQUIPE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chegamos — e quem somos.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1993392" cy="1078992"/>
          </a:xfrm>
          <a:prstGeom prst="roundRect">
            <a:avLst>
              <a:gd name="adj" fmla="val 7627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73736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212140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Radar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9464" y="1627632"/>
            <a:ext cx="1993392" cy="1078992"/>
          </a:xfrm>
          <a:prstGeom prst="roundRect">
            <a:avLst>
              <a:gd name="adj" fmla="val 7627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9464" y="173736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660904" y="212140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660904" y="239572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81728" y="1627632"/>
            <a:ext cx="1993392" cy="1078992"/>
          </a:xfrm>
          <a:prstGeom prst="roundRect">
            <a:avLst>
              <a:gd name="adj" fmla="val 7627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81728" y="173736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73168" y="212140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pago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773168" y="239572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Goiano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93992" y="1627632"/>
            <a:ext cx="1993392" cy="1078992"/>
          </a:xfrm>
          <a:prstGeom prst="roundRect">
            <a:avLst>
              <a:gd name="adj" fmla="val 7627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93992" y="1737360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000000"/>
                </a:solidFill>
              </a:rPr>
              <a:t>⬜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85432" y="2121408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/ Edge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885432" y="239572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1673352" cy="1508760"/>
          </a:xfrm>
          <a:prstGeom prst="roundRect">
            <a:avLst>
              <a:gd name="adj" fmla="val 5455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56132" y="3108960"/>
            <a:ext cx="475488" cy="475488"/>
          </a:xfrm>
          <a:prstGeom prst="ellipse">
            <a:avLst/>
          </a:prstGeom>
          <a:solidFill>
            <a:srgbClr val="0F2A38"/>
          </a:solidFill>
          <a:ln w="19050">
            <a:solidFill>
              <a:srgbClr val="19D3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6132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12064" y="3657600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Fagner Pinho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12064" y="4059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Negócio / Produto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167128" y="2926080"/>
            <a:ext cx="1673352" cy="1508760"/>
          </a:xfrm>
          <a:prstGeom prst="roundRect">
            <a:avLst>
              <a:gd name="adj" fmla="val 5455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2766060" y="3108960"/>
            <a:ext cx="475488" cy="475488"/>
          </a:xfrm>
          <a:prstGeom prst="ellipse">
            <a:avLst/>
          </a:prstGeom>
          <a:solidFill>
            <a:srgbClr val="0F2A38"/>
          </a:solidFill>
          <a:ln w="19050">
            <a:solidFill>
              <a:srgbClr val="19D3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66060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221992" y="3657600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Matheus Iverson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2221992" y="4059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/ IA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877056" y="2926080"/>
            <a:ext cx="1673352" cy="1508760"/>
          </a:xfrm>
          <a:prstGeom prst="roundRect">
            <a:avLst>
              <a:gd name="adj" fmla="val 5455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475988" y="3108960"/>
            <a:ext cx="475488" cy="475488"/>
          </a:xfrm>
          <a:prstGeom prst="ellipse">
            <a:avLst/>
          </a:prstGeom>
          <a:solidFill>
            <a:srgbClr val="0F2A38"/>
          </a:solidFill>
          <a:ln w="19050">
            <a:solidFill>
              <a:srgbClr val="19D3E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75988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931920" y="3657600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Daianne Valéria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931920" y="4059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 / UX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586984" y="2926080"/>
            <a:ext cx="1673352" cy="1508760"/>
          </a:xfrm>
          <a:prstGeom prst="roundRect">
            <a:avLst>
              <a:gd name="adj" fmla="val 5455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185916" y="3108960"/>
            <a:ext cx="475488" cy="475488"/>
          </a:xfrm>
          <a:prstGeom prst="ellipse">
            <a:avLst/>
          </a:prstGeom>
          <a:solidFill>
            <a:srgbClr val="0F2A38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85916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5641848" y="3657600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 Vitória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641848" y="4059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Veterinária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296912" y="2926080"/>
            <a:ext cx="1673352" cy="1508760"/>
          </a:xfrm>
          <a:prstGeom prst="roundRect">
            <a:avLst>
              <a:gd name="adj" fmla="val 5455"/>
            </a:avLst>
          </a:prstGeom>
          <a:solidFill>
            <a:srgbClr val="13313F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5844" y="3108960"/>
            <a:ext cx="475488" cy="475488"/>
          </a:xfrm>
          <a:prstGeom prst="ellipse">
            <a:avLst/>
          </a:prstGeom>
          <a:solidFill>
            <a:srgbClr val="0F2A38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895844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7351776" y="3657600"/>
            <a:ext cx="1563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Diego Santana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351776" y="4059936"/>
            <a:ext cx="1563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 Software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457200"/>
            <a:ext cx="1828800" cy="1828800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168896" y="768096"/>
            <a:ext cx="1207008" cy="1207008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61504" y="1060704"/>
            <a:ext cx="621792" cy="621792"/>
          </a:xfrm>
          <a:prstGeom prst="ellipse">
            <a:avLst/>
          </a:prstGeom>
          <a:ln w="12700">
            <a:solidFill>
              <a:srgbClr val="2148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648" y="1614343"/>
            <a:ext cx="91440" cy="91440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6" name="Shape 4"/>
          <p:cNvSpPr/>
          <p:nvPr/>
        </p:nvSpPr>
        <p:spPr>
          <a:xfrm>
            <a:off x="7196486" y="185607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7" name="Shape 5"/>
          <p:cNvSpPr/>
          <p:nvPr/>
        </p:nvSpPr>
        <p:spPr>
          <a:xfrm>
            <a:off x="7403391" y="1002591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8" name="Shape 6"/>
          <p:cNvSpPr/>
          <p:nvPr/>
        </p:nvSpPr>
        <p:spPr>
          <a:xfrm>
            <a:off x="8149871" y="821541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9" name="Shape 7"/>
          <p:cNvSpPr/>
          <p:nvPr/>
        </p:nvSpPr>
        <p:spPr>
          <a:xfrm>
            <a:off x="7726680" y="1325880"/>
            <a:ext cx="91440" cy="91440"/>
          </a:xfrm>
          <a:prstGeom prst="ellipse">
            <a:avLst/>
          </a:prstGeom>
          <a:solidFill>
            <a:srgbClr val="19D3E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0515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 de descobrir o problema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457200" y="164592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tarde demais.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457200" y="25146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Buscamos o primeiro laticínio parceiro para o piloto no Sul Goiano.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26480" y="2743200"/>
            <a:ext cx="2560320" cy="2103120"/>
          </a:xfrm>
          <a:prstGeom prst="roundRect">
            <a:avLst>
              <a:gd name="adj" fmla="val 3913"/>
            </a:avLst>
          </a:prstGeom>
          <a:solidFill>
            <a:srgbClr val="0F2A38"/>
          </a:solidFill>
          <a:ln w="12700">
            <a:solidFill>
              <a:srgbClr val="21485A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28000"/>
              </a:srgbClr>
            </a:outerShdw>
          </a:effectLst>
        </p:spPr>
      </p:sp>
      <p:pic>
        <p:nvPicPr>
          <p:cNvPr id="14" name="Image 0" descr="C:/Users/Novou/Desktop/USINA/Via Leite/prototipo/qr_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2971800"/>
            <a:ext cx="1554480" cy="15544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12648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A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Aponte a câmera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720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via-leite-sense.streamlit.app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5720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8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LEITE SENSE · USINA I.A. © 2026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VIA LEITE SENSE — Pitch</dc:title>
  <dc:subject>PptxGenJS Presentation</dc:subject>
  <dc:creator>USINA I.A. — VIA LEITE SENSE</dc:creator>
  <cp:lastModifiedBy>USINA I.A. — VIA LEITE SENSE</cp:lastModifiedBy>
  <cp:revision>1</cp:revision>
  <dcterms:created xsi:type="dcterms:W3CDTF">2026-06-27T17:26:08Z</dcterms:created>
  <dcterms:modified xsi:type="dcterms:W3CDTF">2026-06-27T17:26:08Z</dcterms:modified>
</cp:coreProperties>
</file>