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(0:00–0:20): Metade dos produtores de leite do Brasil já entregou leite fora do padrão. E só descobre ~30 dias depois — quando o leite já foi coletado e pago. Eu sou [nome], do VIA LEITE SENSE: o radar de risco da cadeia leiteira. (Pausa após o número.)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(0:20–0:45): A qualidade vem de um exame de laboratório mensal. Quando o resultado chega, já é tarde — caiu a qualidade, caiu o pagamento, perdeu o bônus. A dor não é o descarte; é a falta de antecipação.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Solução (0:45–1:25): Viramos de reativo para preditivo. Um Score de 0 a 100 antecipa com 7 a 30 dias QUEM vai ter problema — o QUANDO agir. E cada produtor recebe um Perfil — Consistente, Oscilante ou Desafiador — que diz COMO agir, tornando a recomendação cirúrgica.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Adoção (1:55–2:25): A adoção é simples — o produtor recebe o alerta em linguagem simples no WhatsApp que já usa, sem instalar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Mercado e modelo (1:25–1:55): Mercado grande (IBGE 2024). Começando por Goiás, alvo de 3 anos é R$ 3,2 milhões/ano. Modelo B2B: o laticínio assina por produtor — R$ 39 básico, R$ 69 Pro, ~R$ 60 em média.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Impacto (1:55–2:25): O retorno é direto — mais de R$ 1.200 por produtor por mês e menos emissão de CO₂. Base: bônus de qualidade protegido (~R$ 960) + descarte evitado de ~4 L/dia (~R$ 294). O CO₂ vem do leite que deixa de ser desperdiçado: ~73 mil L/ano numa cooperativa de 50 produtores, a 2,5 kg CO₂-eq/L (FAO).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(2:25–3:00): Score e Radar já estão no ar; o Perfil está validado em protótipo. O próximo passo é o piloto pago no Sul Goiano.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Equipe (2:25–3:00): Por trás disso, um time que cobre negócio, dados, produto, veterinária e engenharia. Maria Vitória e Diego Santana entraram para reforçar rigor sanitário/regulatório e execução técnica/IoT.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(2:25–3:00): O VIA LEITE SENSE faz a cadeia leiteira parar de descobrir o problema tarde demais. A demo está no ar — aponte a câmera no QR. Estamos buscando o primeiro laticínio parceiro para o piloto no Sul Goiano.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AGROSTARTUP · SENAR/SEBRAE GOIÁS 2026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LEITE </a:t>
            </a:r>
            <a:pPr indent="0" marL="0">
              <a:buNone/>
            </a:pPr>
            <a:r>
              <a:rPr lang="en-US" sz="6000" b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A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Radar de Risco da Cadeia Leiteira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Antecipa queda de produção, perda de qualidade e risco de penalização — antes que a perda aconteça.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Preveja o risco.  Proteja o preço.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92240" y="1234440"/>
            <a:ext cx="2468880" cy="2468880"/>
          </a:xfrm>
          <a:prstGeom prst="ellipse">
            <a:avLst/>
          </a:prstGeom>
          <a:ln w="12700">
            <a:solidFill>
              <a:srgbClr val="2148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11950" y="1654150"/>
            <a:ext cx="1629461" cy="1629461"/>
          </a:xfrm>
          <a:prstGeom prst="ellipse">
            <a:avLst/>
          </a:prstGeom>
          <a:ln w="12700">
            <a:solidFill>
              <a:srgbClr val="2148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06970" y="2049170"/>
            <a:ext cx="839419" cy="839419"/>
          </a:xfrm>
          <a:prstGeom prst="ellipse">
            <a:avLst/>
          </a:prstGeom>
          <a:ln w="12700">
            <a:solidFill>
              <a:srgbClr val="2148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37117" y="2812585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Shape 9"/>
          <p:cNvSpPr/>
          <p:nvPr/>
        </p:nvSpPr>
        <p:spPr>
          <a:xfrm>
            <a:off x="6965198" y="313892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7244520" y="19867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Shape 11"/>
          <p:cNvSpPr/>
          <p:nvPr/>
        </p:nvSpPr>
        <p:spPr>
          <a:xfrm>
            <a:off x="8252268" y="1742302"/>
            <a:ext cx="91440" cy="91440"/>
          </a:xfrm>
          <a:prstGeom prst="ellipse">
            <a:avLst/>
          </a:prstGeom>
          <a:solidFill>
            <a:srgbClr val="19D3E6"/>
          </a:solidFill>
          <a:ln/>
        </p:spPr>
      </p:sp>
      <p:sp>
        <p:nvSpPr>
          <p:cNvPr id="14" name="Shape 12"/>
          <p:cNvSpPr/>
          <p:nvPr/>
        </p:nvSpPr>
        <p:spPr>
          <a:xfrm>
            <a:off x="7680960" y="2423160"/>
            <a:ext cx="91440" cy="91440"/>
          </a:xfrm>
          <a:prstGeom prst="ellipse">
            <a:avLst/>
          </a:prstGeom>
          <a:solidFill>
            <a:srgbClr val="19D3E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a gestão é reativa.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 dias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480560" y="18745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tempo até o produtor descobrir que entregou leite fora do padrão — pelo exame de laboratório mensal, quando já caiu o pagamento e se perdeu o bônus.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8229600" cy="1005840"/>
          </a:xfrm>
          <a:prstGeom prst="roundRect">
            <a:avLst>
              <a:gd name="adj" fmla="val 8182"/>
            </a:avLst>
          </a:prstGeom>
          <a:solidFill>
            <a:srgbClr val="0F2A38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i="1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não é o descarte.  </a:t>
            </a:r>
            <a:pPr algn="l" indent="0" marL="0">
              <a:buNone/>
            </a:pPr>
            <a:r>
              <a:rPr lang="en-US" sz="2100" b="1" i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falta de antecipação.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28016" cy="128016"/>
          </a:xfrm>
          <a:prstGeom prst="ellipse">
            <a:avLst/>
          </a:prstGeom>
          <a:solidFill>
            <a:srgbClr val="19D3E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· DE REATIVO A PREDITIVO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ter problema — e como agir.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AGIR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385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VIA LEITE 0–100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 clima + qualidade + produção · antecipa 7 / 15 / 30 dias.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1847088" cy="603504"/>
          </a:xfrm>
          <a:prstGeom prst="roundRect">
            <a:avLst>
              <a:gd name="adj" fmla="val 13636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" y="3090672"/>
            <a:ext cx="182880" cy="18288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8803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45920" y="2880360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32304" y="2880360"/>
            <a:ext cx="1847088" cy="603504"/>
          </a:xfrm>
          <a:prstGeom prst="roundRect">
            <a:avLst>
              <a:gd name="adj" fmla="val 13636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96896" y="309067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871216" y="2880360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21024" y="2880360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26–50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593592"/>
            <a:ext cx="1847088" cy="603504"/>
          </a:xfrm>
          <a:prstGeom prst="roundRect">
            <a:avLst>
              <a:gd name="adj" fmla="val 13636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" y="3803904"/>
            <a:ext cx="182880" cy="18288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59359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45920" y="3593592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32304" y="3593592"/>
            <a:ext cx="1847088" cy="603504"/>
          </a:xfrm>
          <a:prstGeom prst="roundRect">
            <a:avLst>
              <a:gd name="adj" fmla="val 13636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96896" y="380390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2" name="Text 20"/>
          <p:cNvSpPr/>
          <p:nvPr/>
        </p:nvSpPr>
        <p:spPr>
          <a:xfrm>
            <a:off x="2871216" y="3593592"/>
            <a:ext cx="914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21024" y="3593592"/>
            <a:ext cx="594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76–100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AGIR · PERFIL DO PRODUTOR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938528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56048" y="2139696"/>
            <a:ext cx="164592" cy="16459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5212080" y="1938528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 </a:t>
            </a:r>
            <a:pPr indent="0" marL="0"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no padrão e produção estável.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754880" y="2596896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56048" y="2798064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0" y="2596896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Oscilante  </a:t>
            </a:r>
            <a:pPr indent="0" marL="0"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Bons resultados, porém com oscilações.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754880" y="3255264"/>
            <a:ext cx="3931920" cy="566928"/>
          </a:xfrm>
          <a:prstGeom prst="roundRect">
            <a:avLst>
              <a:gd name="adj" fmla="val 14516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56048" y="345643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212080" y="3255264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Desafiador  </a:t>
            </a:r>
            <a:pPr indent="0" marL="0">
              <a:buNone/>
            </a:pPr>
            <a:r>
              <a:rPr lang="en-US" sz="12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CCS/CBT elevados e maior variabilidade.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cirúrgica, não genérica. Fonte: Gonçalves (2025) / MilkPoint — 2.002 produtores, 16.362 análises.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28016" cy="128016"/>
          </a:xfrm>
          <a:prstGeom prst="ellipse">
            <a:avLst/>
          </a:prstGeom>
          <a:solidFill>
            <a:srgbClr val="0EA5B5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NA PONTA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para o produtor.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traduzido no WhatsApp que ele já usa.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instalar nada. Sem termo técnico. A complexidade fica do nosso lado.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0" y="1417320"/>
            <a:ext cx="3200400" cy="3108960"/>
          </a:xfrm>
          <a:prstGeom prst="roundRect">
            <a:avLst>
              <a:gd name="adj" fmla="val 2647"/>
            </a:avLst>
          </a:prstGeom>
          <a:solidFill>
            <a:srgbClr val="0F2A38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0" y="141732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128C7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LEITE SENSE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2148840"/>
            <a:ext cx="2743200" cy="960120"/>
          </a:xfrm>
          <a:prstGeom prst="roundRect">
            <a:avLst>
              <a:gd name="adj" fmla="val 7619"/>
            </a:avLst>
          </a:prstGeom>
          <a:solidFill>
            <a:srgbClr val="DCF8C6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219456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C2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Seu CCS pode sair do padrão nos próximos 10 dias. Vamos revisar o tanque e o lote 3?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329184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173C4D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3291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passar amanhã? 👍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28016" cy="128016"/>
          </a:xfrm>
          <a:prstGeom prst="ellipse">
            <a:avLst/>
          </a:prstGeom>
          <a:solidFill>
            <a:srgbClr val="19D3E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&amp; MODELO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grande — e como cobramos.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35,7 bi 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606040" y="1965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Brasil · IBGE 2024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R$ 87,5 bi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606040" y="25328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da produção · BR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998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 5º maior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606040" y="30998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2,92 bi L · beachhead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069080" cy="777240"/>
          </a:xfrm>
          <a:prstGeom prst="roundRect">
            <a:avLst>
              <a:gd name="adj" fmla="val 10588"/>
            </a:avLst>
          </a:prstGeom>
          <a:solidFill>
            <a:srgbClr val="0F2A38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3 anos:  </a:t>
            </a:r>
            <a:pPr indent="0" marL="0">
              <a:buNone/>
            </a:pPr>
            <a:r>
              <a:rPr lang="en-US" sz="13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R$ 3,2 mi/ano · 4.500 produtores no Sul Goiano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· B2B2F · LATICÍNIO PAGA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993392"/>
            <a:ext cx="1938528" cy="2148840"/>
          </a:xfrm>
          <a:prstGeom prst="roundRect">
            <a:avLst>
              <a:gd name="adj" fmla="val 4245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1396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3957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R$ 39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54880" y="288950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produtor / mês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 QUANDO agir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34564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Risco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prioridade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+ relatórios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48272" y="1993392"/>
            <a:ext cx="1938528" cy="2148840"/>
          </a:xfrm>
          <a:prstGeom prst="roundRect">
            <a:avLst>
              <a:gd name="adj" fmla="val 4245"/>
            </a:avLst>
          </a:prstGeom>
          <a:solidFill>
            <a:srgbClr val="173C4D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48272" y="2139696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48272" y="23957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R$ 69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748272" y="288950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produtor / mês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48272" y="320040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do Básico + COMO agir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34564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produtor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em R$ + Plano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suporte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· ESTIMATIVA A VALIDAR NO PILOTO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está em jogo — e como provamos.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79192" cy="2103120"/>
          </a:xfrm>
          <a:prstGeom prst="roundRect">
            <a:avLst>
              <a:gd name="adj" fmla="val 3913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36976" y="1874520"/>
            <a:ext cx="2679192" cy="2103120"/>
          </a:xfrm>
          <a:prstGeom prst="roundRect">
            <a:avLst>
              <a:gd name="adj" fmla="val 3913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16752" y="1874520"/>
            <a:ext cx="2679192" cy="2103120"/>
          </a:xfrm>
          <a:prstGeom prst="roundRect">
            <a:avLst>
              <a:gd name="adj" fmla="val 3913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R$ 1.250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produtor / mês em jogo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· produtor-alvo 400 L/dia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511296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dias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511296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o relatório de ROI do piloto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dados do próprio laticínio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91072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~180 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91072" y="30632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CO₂-eq evitável / ano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produtores · 4 L/dia a menos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Premissas: bônus R$ 0,08/L × 12.000 L/mês ≈ R$ 960 + descarte evitado 4 L/dia × R$ 2,45/L (IBGE/SIDRA 2024) ≈ R$ 294. CO₂: 73 mil L/ano × 2,5 kg/L (FAO, 2010).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416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e descarte variam por laticínio: são as primeiras métricas medidas no piloto. Memória de cálculo no plano de negócio.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0624"/>
            <a:ext cx="128016" cy="128016"/>
          </a:xfrm>
          <a:prstGeom prst="ellipse">
            <a:avLst/>
          </a:prstGeom>
          <a:solidFill>
            <a:srgbClr val="19D3E6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840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chegamos — e o próximo passo.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057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Radar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 (produção)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9464" y="187452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9464" y="2057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60904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Produtor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60904" y="32004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em protótipo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81728" y="187452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2057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73168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pago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773168" y="32004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Goiano · dados reais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793992" y="1874520"/>
            <a:ext cx="1993392" cy="2103120"/>
          </a:xfrm>
          <a:prstGeom prst="roundRect">
            <a:avLst>
              <a:gd name="adj" fmla="val 4128"/>
            </a:avLst>
          </a:prstGeom>
          <a:solidFill>
            <a:srgbClr val="13313F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93992" y="205740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⬜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85432" y="26060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/ Edge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85432" y="320040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· tempo real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Novou/Desktop/USINA/Via Leite/prototipo/assets/equ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031"/>
            <a:ext cx="9144000" cy="51005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1828800" cy="1828800"/>
          </a:xfrm>
          <a:prstGeom prst="ellipse">
            <a:avLst/>
          </a:prstGeom>
          <a:ln w="12700">
            <a:solidFill>
              <a:srgbClr val="2148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68896" y="768096"/>
            <a:ext cx="1207008" cy="1207008"/>
          </a:xfrm>
          <a:prstGeom prst="ellipse">
            <a:avLst/>
          </a:prstGeom>
          <a:ln w="12700">
            <a:solidFill>
              <a:srgbClr val="2148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61504" y="1060704"/>
            <a:ext cx="621792" cy="621792"/>
          </a:xfrm>
          <a:prstGeom prst="ellipse">
            <a:avLst/>
          </a:prstGeom>
          <a:ln w="12700">
            <a:solidFill>
              <a:srgbClr val="2148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38648" y="1614343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6" name="Shape 4"/>
          <p:cNvSpPr/>
          <p:nvPr/>
        </p:nvSpPr>
        <p:spPr>
          <a:xfrm>
            <a:off x="7196486" y="1856074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7403391" y="1002591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Shape 6"/>
          <p:cNvSpPr/>
          <p:nvPr/>
        </p:nvSpPr>
        <p:spPr>
          <a:xfrm>
            <a:off x="8149871" y="821541"/>
            <a:ext cx="91440" cy="91440"/>
          </a:xfrm>
          <a:prstGeom prst="ellipse">
            <a:avLst/>
          </a:prstGeom>
          <a:solidFill>
            <a:srgbClr val="19D3E6"/>
          </a:solidFill>
          <a:ln/>
        </p:spPr>
      </p:sp>
      <p:sp>
        <p:nvSpPr>
          <p:cNvPr id="9" name="Shape 7"/>
          <p:cNvSpPr/>
          <p:nvPr/>
        </p:nvSpPr>
        <p:spPr>
          <a:xfrm>
            <a:off x="7726680" y="1325880"/>
            <a:ext cx="91440" cy="91440"/>
          </a:xfrm>
          <a:prstGeom prst="ellipse">
            <a:avLst/>
          </a:prstGeom>
          <a:solidFill>
            <a:srgbClr val="19D3E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051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 de descobrir o problema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" y="16459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9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tarde demais.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o primeiro laticínio parceiro para o piloto no Sul Goiano.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26480" y="2743200"/>
            <a:ext cx="2560320" cy="2103120"/>
          </a:xfrm>
          <a:prstGeom prst="roundRect">
            <a:avLst>
              <a:gd name="adj" fmla="val 3913"/>
            </a:avLst>
          </a:prstGeom>
          <a:solidFill>
            <a:srgbClr val="0F2A38"/>
          </a:solidFill>
          <a:ln w="12700">
            <a:solidFill>
              <a:srgbClr val="21485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28000"/>
              </a:srgbClr>
            </a:outerShdw>
          </a:effectLst>
        </p:spPr>
      </p:sp>
      <p:pic>
        <p:nvPicPr>
          <p:cNvPr id="14" name="Image 0" descr="C:/Users/Novou/Desktop/USINA/Via Leite/prototipo/qr_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971800"/>
            <a:ext cx="1554480" cy="1554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126480" y="4526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Aponte a câmera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via-leite-sense.vercel.app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LEITE SENSE · USINA I.A. ©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 LEITE SENSE — Pitch</dc:title>
  <dc:subject>PptxGenJS Presentation</dc:subject>
  <dc:creator>USINA I.A. — VIA LEITE SENSE</dc:creator>
  <cp:lastModifiedBy>USINA I.A. — VIA LEITE SENSE</cp:lastModifiedBy>
  <cp:revision>1</cp:revision>
  <dcterms:created xsi:type="dcterms:W3CDTF">2026-06-27T18:04:45Z</dcterms:created>
  <dcterms:modified xsi:type="dcterms:W3CDTF">2026-06-27T18:04:45Z</dcterms:modified>
</cp:coreProperties>
</file>