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(0:00–0:20): Metade dos produtores de leite do Brasil já entregou leite fora do padrão. E só descobre ~30 dias depois — quando o leite já foi coletado e pago. Eu sou [nome], do VIA LEITE SENSE: o radar de risco da cadeia leiteira. (Pausa após o número.)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(0:20–0:45): A qualidade vem de um exame de laboratório mensal. Quando o resultado chega, já é tarde — caiu a qualidade, caiu o pagamento, perdeu o bônus. A dor não é o descarte; é a falta de antecipação.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(0:45–1:25): Viramos de reativo para preditivo. Um Score de 0 a 100 antecipa com 7 a 30 dias QUEM vai ter problema — o QUANDO agir. E cada produtor recebe um Perfil — Consistente, Oscilante ou Desafiador — que diz COMO agir, tornando a recomendação cirúrgica.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Adoção (1:55–2:25): A adoção é simples — o produtor recebe o alerta em linguagem simples no WhatsApp que já usa, sem instalar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Mercado e modelo (1:25–1:55): Mercado grande (IBGE 2024). Começando por Goiás, alvo de 3 anos é R$ 3,2 milhões/ano. Modelo B2B: o laticínio assina por produtor — R$ 39 básico, R$ 69 Pro, ~R$ 60 em média.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Impacto (1:55–2:25): O retorno é direto — mais de R$ 1.200 por produtor por mês e menos emissão de CO₂. Base: bônus de qualidade protegido (~R$ 960) + descarte evitado de ~4 L/dia (~R$ 294). O CO₂ vem do leite que deixa de ser desperdiçado: ~73 mil L/ano numa cooperativa de 50 produtores, a 2,5 kg CO₂-eq/L (FAO).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(2:25–3:00): Score e Radar já estão no ar; o Perfil está validado em protótipo. O próximo passo é o piloto pago no Sul Goiano.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Equipe (2:25–3:00): Por trás disso, um time que cobre negócio, dados, produto, veterinária e engenharia. Maria Vitória e Diego Santana entraram para reforçar rigor sanitário/regulatório e execução técnica/IoT.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(2:25–3:00): O VIA LEITE SENSE faz a cadeia leiteira parar de descobrir o problema tarde demais. A demo está no ar — aponte a câmera no QR. Estamos buscando o primeiro laticínio parceiro para o piloto no Sul Goiano.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AGROSTARTUP · SENAR/SEBRAE GOIÁS 2026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</a:t>
            </a:r>
            <a:pPr indent="0" marL="0">
              <a:buNone/>
            </a:pPr>
            <a:r>
              <a:rPr lang="en-US" sz="60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AF4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Radar de Risco da Cadeia Leiteira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 queda de produção, perda de qualidade e risco de penalização — antes que a perda aconteça.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Preveja o risco.  Proteja o preço.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234440"/>
            <a:ext cx="2468880" cy="2468880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11950" y="1654150"/>
            <a:ext cx="1629461" cy="1629461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06970" y="2049170"/>
            <a:ext cx="839419" cy="839419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37117" y="2812585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Shape 9"/>
          <p:cNvSpPr/>
          <p:nvPr/>
        </p:nvSpPr>
        <p:spPr>
          <a:xfrm>
            <a:off x="6965198" y="3138922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7244520" y="1986720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3" name="Shape 11"/>
          <p:cNvSpPr/>
          <p:nvPr/>
        </p:nvSpPr>
        <p:spPr>
          <a:xfrm>
            <a:off x="8252268" y="1742302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0" y="2423160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a gestão é reativa.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dias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480560" y="18745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tempo até o produtor descobrir que entregou leite fora do padrão — pelo exame de laboratório mensal, quando já caiu o pagamento e se perdeu o bônus.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8229600" cy="1005840"/>
          </a:xfrm>
          <a:prstGeom prst="roundRect">
            <a:avLst>
              <a:gd name="adj" fmla="val 8182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4290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dor não é o descarte.  </a:t>
            </a:r>
            <a:pPr algn="l" indent="0" marL="0">
              <a:buNone/>
            </a:pPr>
            <a:r>
              <a:rPr lang="en-US" sz="2100" b="1" i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falta de antecipação.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· DE REATIVO A PREDITIVO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vai ter problema — e como agir.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AGIR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VIA LEITE 0–100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 clima + qualidade + produção · antecipa 7 / 15 / 30 dias.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" y="3090672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88036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45920" y="2880360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432304" y="2880360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96896" y="3090672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2871216" y="288036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21024" y="2880360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26–50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593592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" y="3803904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3593592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645920" y="3593592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51–75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432304" y="3593592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96896" y="380390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2871216" y="3593592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21024" y="3593592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76–100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5488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AGIR · PERFIL DO PRODUTOR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938528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56048" y="2139696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193852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no padrão e produção estável.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754880" y="2596896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56048" y="2798064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0" y="259689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Oscilante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Bons resultados, porém com oscilações.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754880" y="3255264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956048" y="3456432"/>
            <a:ext cx="164592" cy="164592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3" name="Text 31"/>
          <p:cNvSpPr/>
          <p:nvPr/>
        </p:nvSpPr>
        <p:spPr>
          <a:xfrm>
            <a:off x="5212080" y="325526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Desafiador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CCS/CBT elevados e maior variabilidade.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cirúrgica, não genérica. Fonte: Gonçalves (2025) / MilkPoint — 2.002 produtores, 16.362 análises.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0EA5B5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NA PONTA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para o produtor.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traduzido no WhatsApp que ele já usa.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instalar nada. Sem termo técnico. A complexidade fica do nosso lado.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0" y="1417320"/>
            <a:ext cx="3200400" cy="3108960"/>
          </a:xfrm>
          <a:prstGeom prst="roundRect">
            <a:avLst>
              <a:gd name="adj" fmla="val 2647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0" y="1417320"/>
            <a:ext cx="3200400" cy="548640"/>
          </a:xfrm>
          <a:prstGeom prst="roundRect">
            <a:avLst>
              <a:gd name="adj" fmla="val 15000"/>
            </a:avLst>
          </a:prstGeom>
          <a:solidFill>
            <a:srgbClr val="128C7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417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SENSE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15000" y="214884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DCF8C6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0" y="21945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2C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Seu CCS pode sair do padrão nos próximos 10 dias. Vamos revisar o tanque e o lote 3?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89320" y="329184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173C4D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3291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passar amanhã? 👍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&amp; MODELO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grande — e como cobramos.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35,7 bi 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606040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Brasil · IBGE 2024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32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R$ 87,5 bi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06040" y="25328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da produção · BR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998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Goiás 5º maior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06040" y="309981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2,92 bi L · beachhead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4069080" cy="777240"/>
          </a:xfrm>
          <a:prstGeom prst="roundRect">
            <a:avLst>
              <a:gd name="adj" fmla="val 10588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749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3 anos:  </a:t>
            </a:r>
            <a:pPr indent="0" marL="0">
              <a:buNone/>
            </a:pPr>
            <a:r>
              <a:rPr lang="en-US" sz="13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R$ 3,2 mi/ano · 4.500 produtores no Sul Goiano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· B2B2F · LATICÍNIO PAGA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993392"/>
            <a:ext cx="1938528" cy="2148840"/>
          </a:xfrm>
          <a:prstGeom prst="roundRect">
            <a:avLst>
              <a:gd name="adj" fmla="val 4245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54880" y="213969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39572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754880" y="288950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produtor / mês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54880" y="320040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 QUANDO agir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64608" y="345643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Risco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prioridade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+ relatórios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48272" y="1993392"/>
            <a:ext cx="1938528" cy="2148840"/>
          </a:xfrm>
          <a:prstGeom prst="roundRect">
            <a:avLst>
              <a:gd name="adj" fmla="val 4245"/>
            </a:avLst>
          </a:prstGeom>
          <a:solidFill>
            <a:srgbClr val="173C4D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48272" y="213969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48272" y="239572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R$ 69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748272" y="288950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produtor / mês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48272" y="320040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do Básico + COMO agir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345643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do produtor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em R$ + Plano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suporte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direto — e ESG.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36976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16752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+R$ 1.200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produtor / mês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ou perda evitada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11296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50–60%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11296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descarte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leite não-conforme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91072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180+ t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91072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 / ano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cooperativa de 50 produtores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(produtor médio ~400 L/dia): bônus protegido ~R$ 960 + descarte evitado ~R$ 294 (4 L/dia). CO₂: ~73 mil L/ano evitados × 2,5 kg CO₂-eq/L.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Benchmarks: Embrapa · MAPA IN 77/2018 · FAO (2010). Memória de cálculo detalhada no plano de negócio.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chegamos — e o próximo passo.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993392" cy="2103120"/>
          </a:xfrm>
          <a:prstGeom prst="roundRect">
            <a:avLst>
              <a:gd name="adj" fmla="val 4128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05740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Radar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 (produção)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9464" y="1874520"/>
            <a:ext cx="1993392" cy="2103120"/>
          </a:xfrm>
          <a:prstGeom prst="roundRect">
            <a:avLst>
              <a:gd name="adj" fmla="val 4128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9464" y="205740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60904" y="260604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do Produtor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60904" y="320040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em protótipo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81728" y="1874520"/>
            <a:ext cx="1993392" cy="2103120"/>
          </a:xfrm>
          <a:prstGeom prst="roundRect">
            <a:avLst>
              <a:gd name="adj" fmla="val 4128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81728" y="205740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73168" y="260604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pago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73168" y="320040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Goiano · dados reais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93992" y="1874520"/>
            <a:ext cx="1993392" cy="2103120"/>
          </a:xfrm>
          <a:prstGeom prst="roundRect">
            <a:avLst>
              <a:gd name="adj" fmla="val 4128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93992" y="205740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⬜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85432" y="260604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Edge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85432" y="320040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 · tempo real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Novou/Desktop/USINA/Via Leite/prototipo/assets/equ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1031"/>
            <a:ext cx="9144000" cy="51005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1828800" cy="1828800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68896" y="768096"/>
            <a:ext cx="1207008" cy="1207008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61504" y="1060704"/>
            <a:ext cx="621792" cy="621792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648" y="1614343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Shape 4"/>
          <p:cNvSpPr/>
          <p:nvPr/>
        </p:nvSpPr>
        <p:spPr>
          <a:xfrm>
            <a:off x="7196486" y="185607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Shape 5"/>
          <p:cNvSpPr/>
          <p:nvPr/>
        </p:nvSpPr>
        <p:spPr>
          <a:xfrm>
            <a:off x="7403391" y="1002591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8" name="Shape 6"/>
          <p:cNvSpPr/>
          <p:nvPr/>
        </p:nvSpPr>
        <p:spPr>
          <a:xfrm>
            <a:off x="8149871" y="821541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9" name="Shape 7"/>
          <p:cNvSpPr/>
          <p:nvPr/>
        </p:nvSpPr>
        <p:spPr>
          <a:xfrm>
            <a:off x="7726680" y="1325880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0515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 de descobrir o problema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7200" y="16459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tarde demais.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Buscamos o primeiro laticínio parceiro para o piloto no Sul Goiano.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26480" y="2743200"/>
            <a:ext cx="2560320" cy="2103120"/>
          </a:xfrm>
          <a:prstGeom prst="roundRect">
            <a:avLst>
              <a:gd name="adj" fmla="val 3913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0" descr="C:/Users/Novou/Desktop/USINA/Via Leite/prototipo/qr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971800"/>
            <a:ext cx="1554480" cy="15544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12648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a câmera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720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via-leite-sense.streamlit.app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SENSE · USINA I.A. ©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VIA LEITE SENSE — Pitch</dc:title>
  <dc:subject>PptxGenJS Presentation</dc:subject>
  <dc:creator>USINA I.A. — VIA LEITE SENSE</dc:creator>
  <cp:lastModifiedBy>USINA I.A. — VIA LEITE SENSE</cp:lastModifiedBy>
  <cp:revision>1</cp:revision>
  <dcterms:created xsi:type="dcterms:W3CDTF">2026-06-27T18:04:45Z</dcterms:created>
  <dcterms:modified xsi:type="dcterms:W3CDTF">2026-06-27T18:04:45Z</dcterms:modified>
</cp:coreProperties>
</file>